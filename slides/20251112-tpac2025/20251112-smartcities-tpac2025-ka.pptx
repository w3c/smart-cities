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630" r:id="rId2"/>
    <p:sldId id="811" r:id="rId3"/>
    <p:sldId id="8775" r:id="rId4"/>
    <p:sldId id="8776" r:id="rId5"/>
    <p:sldId id="810" r:id="rId6"/>
    <p:sldId id="8770" r:id="rId7"/>
    <p:sldId id="8714" r:id="rId8"/>
    <p:sldId id="8715" r:id="rId9"/>
    <p:sldId id="8716" r:id="rId10"/>
    <p:sldId id="8717" r:id="rId11"/>
    <p:sldId id="8718" r:id="rId12"/>
    <p:sldId id="8719" r:id="rId13"/>
    <p:sldId id="8692" r:id="rId14"/>
    <p:sldId id="599" r:id="rId15"/>
    <p:sldId id="706" r:id="rId16"/>
    <p:sldId id="634" r:id="rId17"/>
    <p:sldId id="691" r:id="rId18"/>
    <p:sldId id="8702" r:id="rId19"/>
    <p:sldId id="8699" r:id="rId20"/>
    <p:sldId id="8769" r:id="rId21"/>
    <p:sldId id="8709" r:id="rId22"/>
    <p:sldId id="8720" r:id="rId23"/>
    <p:sldId id="8704" r:id="rId24"/>
    <p:sldId id="8772" r:id="rId25"/>
    <p:sldId id="8773" r:id="rId26"/>
    <p:sldId id="8774" r:id="rId27"/>
    <p:sldId id="8777" r:id="rId28"/>
    <p:sldId id="8778" r:id="rId29"/>
    <p:sldId id="31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0BF1D2D0-0072-40C6-B6E2-E0AB791BDEF3}">
          <p14:sldIdLst/>
        </p14:section>
        <p14:section name="Default Section" id="{A4070BD8-BC1E-9649-81FB-F587882D54F0}">
          <p14:sldIdLst>
            <p14:sldId id="630"/>
            <p14:sldId id="811"/>
            <p14:sldId id="8775"/>
            <p14:sldId id="8776"/>
            <p14:sldId id="810"/>
            <p14:sldId id="8770"/>
            <p14:sldId id="8714"/>
            <p14:sldId id="8715"/>
            <p14:sldId id="8716"/>
            <p14:sldId id="8717"/>
            <p14:sldId id="8718"/>
            <p14:sldId id="8719"/>
            <p14:sldId id="8692"/>
            <p14:sldId id="599"/>
            <p14:sldId id="706"/>
            <p14:sldId id="634"/>
            <p14:sldId id="691"/>
            <p14:sldId id="8702"/>
            <p14:sldId id="8699"/>
            <p14:sldId id="8769"/>
            <p14:sldId id="8709"/>
            <p14:sldId id="8720"/>
            <p14:sldId id="8704"/>
            <p14:sldId id="8772"/>
            <p14:sldId id="8773"/>
            <p14:sldId id="8774"/>
            <p14:sldId id="8777"/>
            <p14:sldId id="8778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D0D8A-5DEC-DDA0-A710-059328D3B111}" v="157" dt="2025-11-05T02:20:08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94"/>
  </p:normalViewPr>
  <p:slideViewPr>
    <p:cSldViewPr snapToGrid="0" snapToObjects="1">
      <p:cViewPr varScale="1">
        <p:scale>
          <a:sx n="73" d="100"/>
          <a:sy n="73" d="100"/>
        </p:scale>
        <p:origin x="90" y="9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94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94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39AF-2B1F-13D0-3380-3C095020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25C0C-4B38-21FE-B3B8-3D3CFE4D8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D4CAE-CA81-7D54-28C3-35D02AE5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01E89-1781-4C58-94EA-F560032D6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07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1CA7-1288-2691-447E-9875026D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86618-BFC3-EAB8-6F33-62A8214D3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3CCAC-70DD-4D2D-9979-3F7B35F89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AC7CC-55E7-DFEB-A3D1-6F05C9CFF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58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09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42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08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5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11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15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9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59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48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51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76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98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99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7A9B1-BADF-A3DA-EDB5-BBED7628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E9AF0-6FA2-E721-3EB6-0056D7A1B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A2328-E862-DFF8-F738-F8FE6B33C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B74C6-0428-1062-BA77-A0E1E4C97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31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6D71-51B3-8D14-652E-141F933B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BA26C-C4DE-1171-04DF-B678FCC55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81EB0-7F71-4FEA-761F-7CB50CF57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8419D-278A-D71B-D4B2-2A5B0E2D0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822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86CB-6544-AD3B-6C0D-863FAC24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FB5D9-B880-3320-CFEE-0C2CFD096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D4693-7A9C-FB72-AB2A-B76D63DAB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E622D-9E5C-923D-548E-A8CFBE7016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74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3C22-284F-8C7E-8C29-9FF56575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F3119-0BFF-7578-F499-057EEEABD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364AC-18CE-4BB8-D6A3-D5E7ED8A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just a few of the areas</a:t>
            </a:r>
            <a:r>
              <a:rPr lang="en-GB" baseline="0" dirty="0"/>
              <a:t> where the </a:t>
            </a:r>
            <a:r>
              <a:rPr lang="en-GB" baseline="0" dirty="0" err="1"/>
              <a:t>IoT</a:t>
            </a:r>
            <a:r>
              <a:rPr lang="en-GB" baseline="0" dirty="0"/>
              <a:t> is being applied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68860-4EE7-29BD-A8B9-31234C83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57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</a:t>
            </a:r>
            <a:r>
              <a:rPr lang="en-US" baseline="0" dirty="0"/>
              <a:t> show human to human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65158-EAA1-364E-8289-C6CA3BB875F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63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706" y="1867137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2025-11-11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2025-11-11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2025-11-11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2025-11-11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2025-11-11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2025-11-11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2025-11-11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2025-11-11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2025-11-11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2025-11-11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569" y="2295837"/>
            <a:ext cx="11078633" cy="395256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07776" y="6418012"/>
            <a:ext cx="711200" cy="2647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6FF339-C289-BD4E-BE3A-0EFF8D97C3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1857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2025-11-11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dd.iec.ch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rdf11-primer/" TargetMode="External"/><Relationship Id="rId7" Type="http://schemas.openxmlformats.org/officeDocument/2006/relationships/hyperlink" Target="https://www.w3.org/TR/vocab-dcat-3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.org/TR/rif-overview/" TargetMode="External"/><Relationship Id="rId5" Type="http://schemas.openxmlformats.org/officeDocument/2006/relationships/hyperlink" Target="http://www.w3.org/TR/owl2-primer/" TargetMode="External"/><Relationship Id="rId4" Type="http://schemas.openxmlformats.org/officeDocument/2006/relationships/hyperlink" Target="http://www.w3.org/TR/rdf-schema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hyperlink" Target="https://www.w3.org/2024/06/smart-cities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3c/smart-cities/blob/main/technology-categories.md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github.com/w3c/smart-cities/blob/main/resources.md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494" y="1192148"/>
            <a:ext cx="11595011" cy="394036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ja-JP" sz="4800" dirty="0"/>
              <a:t>Web-based Digital Twins for Smart Cities</a:t>
            </a:r>
            <a:br>
              <a:rPr lang="en-US" altLang="ja-JP" sz="4800" dirty="0"/>
            </a:br>
            <a:r>
              <a:rPr lang="en-US" altLang="ja-JP" sz="4800" dirty="0"/>
              <a:t>at</a:t>
            </a:r>
            <a:br>
              <a:rPr lang="en-US" altLang="ja-JP" sz="4800" dirty="0"/>
            </a:br>
            <a:r>
              <a:rPr lang="en-US" altLang="ja-JP" sz="4800" dirty="0"/>
              <a:t>TPAC 2025</a:t>
            </a:r>
            <a:endParaRPr lang="en-US" sz="4800" i="1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5132514"/>
            <a:ext cx="11161701" cy="1527366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ja-JP" sz="2000" dirty="0"/>
              <a:t>W3C Invited Expert</a:t>
            </a:r>
          </a:p>
          <a:p>
            <a:pPr>
              <a:lnSpc>
                <a:spcPct val="70000"/>
              </a:lnSpc>
            </a:pPr>
            <a:r>
              <a:rPr lang="en-US" altLang="ja-JP" sz="2000" dirty="0"/>
              <a:t>Professor, Center for Information and Communication Technology, Nagasaki University</a:t>
            </a:r>
          </a:p>
          <a:p>
            <a:pPr>
              <a:lnSpc>
                <a:spcPct val="70000"/>
              </a:lnSpc>
            </a:pPr>
            <a:r>
              <a:rPr lang="en-US" altLang="ja-JP" sz="2000" dirty="0"/>
              <a:t>Kazuyuki</a:t>
            </a:r>
            <a:r>
              <a:rPr lang="ja-JP" altLang="en-US" sz="2000" dirty="0"/>
              <a:t> </a:t>
            </a:r>
            <a:r>
              <a:rPr lang="en-US" altLang="ja-JP" sz="2000" dirty="0"/>
              <a:t>Ashimura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12 November 2025</a:t>
            </a:r>
          </a:p>
        </p:txBody>
      </p:sp>
    </p:spTree>
    <p:extLst>
      <p:ext uri="{BB962C8B-B14F-4D97-AF65-F5344CB8AC3E}">
        <p14:creationId xmlns:p14="http://schemas.microsoft.com/office/powerpoint/2010/main" val="422654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/>
          <a:lstStyle/>
          <a:p>
            <a:r>
              <a:rPr lang="en-GB" sz="4267" dirty="0"/>
              <a:t>Agenda for today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2559" y="1219200"/>
            <a:ext cx="11150877" cy="5167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Review the discussion so far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Get input from stakeholders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Discussion on</a:t>
            </a:r>
            <a:r>
              <a:rPr lang="ja-JP" altLang="en-US" sz="3200" dirty="0"/>
              <a:t> </a:t>
            </a:r>
            <a:r>
              <a:rPr lang="en-US" altLang="ja-JP" sz="3200" dirty="0"/>
              <a:t>the</a:t>
            </a:r>
            <a:r>
              <a:rPr lang="ja-JP" altLang="en-US" sz="3200" dirty="0"/>
              <a:t> </a:t>
            </a:r>
            <a:r>
              <a:rPr lang="en-US" altLang="ja-JP" sz="3200" dirty="0"/>
              <a:t>next</a:t>
            </a:r>
            <a:r>
              <a:rPr lang="ja-JP" altLang="en-US" sz="3200" dirty="0"/>
              <a:t> </a:t>
            </a:r>
            <a:r>
              <a:rPr lang="en-US" altLang="ja-JP" sz="3200" dirty="0"/>
              <a:t>steps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4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CFA4-ABCE-4A91-6AFF-DEB69225F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B235-B368-B6B7-F4E9-FAF91865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/>
          <a:lstStyle/>
          <a:p>
            <a:r>
              <a:rPr lang="en-GB" sz="4267" dirty="0"/>
              <a:t>Discussion so far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E13C62-C514-B84A-0587-9AB4156B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59" y="1219200"/>
            <a:ext cx="11150877" cy="5167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28320" lvl="1" indent="-342265">
              <a:buClr>
                <a:schemeClr val="tx1"/>
              </a:buClr>
            </a:pPr>
            <a:endParaRPr lang="en-US" altLang="ja-JP" sz="3200" dirty="0">
              <a:ea typeface="メイリオ"/>
              <a:cs typeface="Calibri" panose="020F0502020204030204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9744CB-617D-4285-A4B4-439F43C1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3</a:t>
            </a:fld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964A4E-3C1D-A0CE-5301-6AA40591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9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F230-144E-5611-8D1B-86247C043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47CA-CFE3-D172-8CB0-2FAC27519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/>
          <a:lstStyle/>
          <a:p>
            <a:r>
              <a:rPr lang="en-GB" sz="4267" dirty="0"/>
              <a:t>Difficulties with Smart Cities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0A4357-41B0-D603-5DC7-1B069E01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59" y="1219200"/>
            <a:ext cx="11150877" cy="5167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28320" lvl="1" indent="-342265">
              <a:buClr>
                <a:schemeClr val="tx1"/>
              </a:buClr>
            </a:pPr>
            <a:r>
              <a:rPr lang="en-US" altLang="ja-JP" sz="3200" dirty="0"/>
              <a:t>"Smart Cities" consists of too many stakeholders (vendors, users, governments, …) and technologies (Web, IoT, Software, Hardware, …).</a:t>
            </a:r>
            <a:endParaRPr lang="en-US" sz="3200" dirty="0"/>
          </a:p>
          <a:p>
            <a:pPr marL="528320" lvl="1" indent="-342265">
              <a:buClr>
                <a:srgbClr val="000000"/>
              </a:buClr>
            </a:pPr>
            <a:endParaRPr lang="en-US" altLang="ja-JP" sz="3200" dirty="0">
              <a:ea typeface="メイリオ"/>
            </a:endParaRPr>
          </a:p>
          <a:p>
            <a:pPr marL="528320" lvl="1" indent="-342265">
              <a:buClr>
                <a:schemeClr val="tx1"/>
              </a:buClr>
            </a:pPr>
            <a:r>
              <a:rPr lang="en-US" altLang="ja-JP" sz="3200" dirty="0"/>
              <a:t>So strong need:</a:t>
            </a:r>
            <a:endParaRPr lang="en-US" altLang="ja-JP" sz="3200" dirty="0">
              <a:cs typeface="Calibri" panose="020F0502020204030204"/>
            </a:endParaRPr>
          </a:p>
          <a:p>
            <a:pPr marL="756920" lvl="2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</a:rPr>
              <a:t>To identify and document </a:t>
            </a:r>
            <a:r>
              <a:rPr lang="en-US" altLang="ja-JP" sz="3200" b="1" dirty="0">
                <a:ea typeface="メイリオ"/>
              </a:rPr>
              <a:t>possible</a:t>
            </a:r>
            <a:r>
              <a:rPr lang="en-US" altLang="ja-JP" sz="3200" dirty="0">
                <a:ea typeface="メイリオ"/>
              </a:rPr>
              <a:t> </a:t>
            </a:r>
            <a:r>
              <a:rPr lang="en-US" altLang="ja-JP" sz="3200" b="1" dirty="0">
                <a:ea typeface="メイリオ"/>
              </a:rPr>
              <a:t>use cases</a:t>
            </a:r>
            <a:r>
              <a:rPr lang="en-US" altLang="ja-JP" sz="3200" dirty="0">
                <a:ea typeface="メイリオ"/>
              </a:rPr>
              <a:t>,</a:t>
            </a:r>
            <a:endParaRPr lang="en-US" altLang="ja-JP" sz="3200" dirty="0">
              <a:ea typeface="メイリオ"/>
              <a:cs typeface="Calibri"/>
            </a:endParaRPr>
          </a:p>
          <a:p>
            <a:pPr marL="756920" lvl="2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</a:rPr>
              <a:t>To obtain </a:t>
            </a:r>
            <a:r>
              <a:rPr lang="en-US" altLang="ja-JP" sz="3200" b="1" dirty="0">
                <a:ea typeface="メイリオ"/>
              </a:rPr>
              <a:t>feedback from all the stakeholders</a:t>
            </a:r>
            <a:r>
              <a:rPr lang="en-US" altLang="ja-JP" sz="3200" dirty="0">
                <a:ea typeface="メイリオ"/>
              </a:rPr>
              <a:t>,</a:t>
            </a:r>
            <a:endParaRPr lang="en-US" altLang="ja-JP" sz="3200" dirty="0">
              <a:ea typeface="メイリオ"/>
              <a:cs typeface="Calibri"/>
            </a:endParaRPr>
          </a:p>
          <a:p>
            <a:pPr marL="756920" lvl="2" indent="-342265">
              <a:buClr>
                <a:srgbClr val="000000"/>
              </a:buClr>
            </a:pPr>
            <a:r>
              <a:rPr lang="en-US" altLang="ja-JP" sz="3200" dirty="0">
                <a:ea typeface="メイリオ"/>
              </a:rPr>
              <a:t>To gather </a:t>
            </a:r>
            <a:r>
              <a:rPr lang="en-US" altLang="ja-JP" sz="3200" b="1" dirty="0">
                <a:ea typeface="メイリオ"/>
              </a:rPr>
              <a:t>experts’ input on important features</a:t>
            </a:r>
            <a:r>
              <a:rPr lang="en-US" altLang="ja-JP" sz="3200" dirty="0">
                <a:ea typeface="メイリオ"/>
              </a:rPr>
              <a:t>, and</a:t>
            </a:r>
            <a:endParaRPr lang="en-US" altLang="ja-JP" sz="3200" dirty="0">
              <a:ea typeface="メイリオ"/>
              <a:cs typeface="Calibri" panose="020F0502020204030204"/>
            </a:endParaRPr>
          </a:p>
          <a:p>
            <a:pPr marL="756920" lvl="2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</a:rPr>
              <a:t>To provide a </a:t>
            </a:r>
            <a:r>
              <a:rPr lang="en-US" altLang="ja-JP" sz="3200" b="1" dirty="0">
                <a:ea typeface="メイリオ"/>
              </a:rPr>
              <a:t>forum for technical and business discussions</a:t>
            </a:r>
            <a:r>
              <a:rPr lang="en-US" altLang="ja-JP" sz="3200" dirty="0">
                <a:ea typeface="メイリオ"/>
              </a:rPr>
              <a:t>.</a:t>
            </a:r>
            <a:endParaRPr lang="en-US" altLang="ja-JP" sz="3200" dirty="0">
              <a:ea typeface="メイリオ"/>
              <a:cs typeface="Calibri" panose="020F0502020204030204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24C6BE-FB23-AF46-3E10-D5B4C01B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4</a:t>
            </a:fld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E7EBD15-34BF-8F67-C08E-F0818921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0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554568" y="210820"/>
            <a:ext cx="11423689" cy="936761"/>
          </a:xfrm>
        </p:spPr>
        <p:txBody>
          <a:bodyPr anchor="t">
            <a:normAutofit fontScale="90000"/>
          </a:bodyPr>
          <a:lstStyle/>
          <a:p>
            <a:r>
              <a:rPr lang="en-US" altLang="ja-JP" dirty="0">
                <a:ea typeface="メイリオ"/>
              </a:rPr>
              <a:t>Discussion</a:t>
            </a:r>
            <a:r>
              <a:rPr kumimoji="1" lang="en-US" altLang="ja-JP" dirty="0">
                <a:ea typeface="メイリオ"/>
              </a:rPr>
              <a:t> </a:t>
            </a:r>
            <a:r>
              <a:rPr lang="en-US" altLang="ja-JP" dirty="0">
                <a:ea typeface="メイリオ"/>
              </a:rPr>
              <a:t>around Web-based Smart Cities@W3C</a:t>
            </a:r>
            <a:endParaRPr lang="en-US" altLang="ja-JP" dirty="0">
              <a:ea typeface="メイリオ"/>
              <a:cs typeface="Calibri"/>
            </a:endParaRPr>
          </a:p>
        </p:txBody>
      </p:sp>
      <p:sp>
        <p:nvSpPr>
          <p:cNvPr id="90" name="Footer Placeholder 3">
            <a:extLst>
              <a:ext uri="{FF2B5EF4-FFF2-40B4-BE49-F238E27FC236}">
                <a16:creationId xmlns:a16="http://schemas.microsoft.com/office/drawing/2014/main" id="{C165AAAD-E7F1-46FB-8B73-DC759B6F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635" y="6454588"/>
            <a:ext cx="48768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92" name="Slide Number Placeholder 4">
            <a:extLst>
              <a:ext uri="{FF2B5EF4-FFF2-40B4-BE49-F238E27FC236}">
                <a16:creationId xmlns:a16="http://schemas.microsoft.com/office/drawing/2014/main" id="{89C37205-47D6-4F0F-B89F-D8CE69F2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2235" y="6386326"/>
            <a:ext cx="711200" cy="365125"/>
          </a:xfrm>
        </p:spPr>
        <p:txBody>
          <a:bodyPr/>
          <a:lstStyle/>
          <a:p>
            <a:pPr>
              <a:spcAft>
                <a:spcPts val="800"/>
              </a:spcAft>
            </a:pPr>
            <a:fld id="{E76FF339-C289-BD4E-BE3A-0EFF8D97C3C0}" type="slidenum">
              <a:rPr lang="en-US" smtClean="0"/>
              <a:pPr>
                <a:spcAft>
                  <a:spcPts val="800"/>
                </a:spcAft>
              </a:pPr>
              <a:t>5</a:t>
            </a:fld>
            <a:endParaRPr lang="en-US"/>
          </a:p>
        </p:txBody>
      </p:sp>
      <p:pic>
        <p:nvPicPr>
          <p:cNvPr id="2" name="図 1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099A6B40-BF6F-A005-7F26-30C58C7B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64" y="986971"/>
            <a:ext cx="10357846" cy="540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4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5E88-D0F7-C851-FF8D-FC8E771F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24E1-3459-0B8D-0D9E-2B554BA5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0502" y="2613455"/>
            <a:ext cx="7525796" cy="13716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ja-JP" sz="4800" dirty="0">
                <a:solidFill>
                  <a:schemeClr val="tx1"/>
                </a:solidFill>
              </a:rPr>
              <a:t>Collaboration with related SDOs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B70EC-BFCF-0D92-9B1E-977BE837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15D00C-7E02-A3BC-DDB7-5722BC9C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2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/>
          </a:bodyPr>
          <a:lstStyle/>
          <a:p>
            <a:r>
              <a:rPr lang="en-GB" sz="4267" dirty="0"/>
              <a:t>ECHONET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1311" y="1219200"/>
            <a:ext cx="11960689" cy="5167125"/>
          </a:xfrm>
        </p:spPr>
        <p:txBody>
          <a:bodyPr>
            <a:noAutofit/>
          </a:bodyPr>
          <a:lstStyle/>
          <a:p>
            <a:pPr marL="642927" lvl="1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3200" dirty="0"/>
              <a:t>Smart home appliances</a:t>
            </a:r>
          </a:p>
          <a:p>
            <a:pPr marL="1100127" lvl="2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2800" dirty="0"/>
              <a:t>ECHONET spec</a:t>
            </a:r>
          </a:p>
          <a:p>
            <a:pPr marL="1100127" lvl="2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2800" dirty="0"/>
              <a:t>ECHONET Lite spec</a:t>
            </a:r>
          </a:p>
          <a:p>
            <a:pPr marL="1100127" lvl="2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2800" dirty="0"/>
              <a:t>ECHONET Lite Web API spec </a:t>
            </a:r>
            <a:r>
              <a:rPr lang="ja-JP" altLang="en-US" sz="2800" dirty="0"/>
              <a:t>⇒</a:t>
            </a:r>
            <a:r>
              <a:rPr lang="en-US" altLang="ja-JP" sz="2800" dirty="0"/>
              <a:t> referring to the W3C </a:t>
            </a:r>
            <a:r>
              <a:rPr lang="en-US" altLang="ja-JP" sz="2800" dirty="0" err="1"/>
              <a:t>WoT</a:t>
            </a:r>
            <a:r>
              <a:rPr lang="en-US" altLang="ja-JP" sz="2800" dirty="0"/>
              <a:t> spec</a:t>
            </a:r>
          </a:p>
          <a:p>
            <a:pPr marL="642927" lvl="1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3200" dirty="0"/>
              <a:t>New features for real-world system development</a:t>
            </a:r>
          </a:p>
          <a:p>
            <a:pPr marL="1100127" lvl="2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2800" dirty="0"/>
              <a:t>Registration of a set of operations first, then execution later</a:t>
            </a:r>
          </a:p>
          <a:p>
            <a:pPr marL="1100127" lvl="2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2800" dirty="0"/>
              <a:t>History management</a:t>
            </a:r>
          </a:p>
          <a:p>
            <a:pPr marL="1100127" lvl="2" indent="-457200">
              <a:lnSpc>
                <a:spcPct val="100000"/>
              </a:lnSpc>
              <a:buClr>
                <a:schemeClr val="tx1"/>
              </a:buClr>
            </a:pPr>
            <a:r>
              <a:rPr lang="en-US" altLang="ja-JP" sz="2800" dirty="0"/>
              <a:t>Authentication and authorization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7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7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/>
          </a:bodyPr>
          <a:lstStyle/>
          <a:p>
            <a:r>
              <a:rPr lang="en-GB" sz="4267" dirty="0"/>
              <a:t>IEC SC3D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1311" y="1219200"/>
            <a:ext cx="11960689" cy="5167125"/>
          </a:xfrm>
        </p:spPr>
        <p:txBody>
          <a:bodyPr>
            <a:noAutofit/>
          </a:bodyPr>
          <a:lstStyle/>
          <a:p>
            <a:pPr marL="528627" lvl="1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Common Data Dictionary (CDD)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Methodology and products ontology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Standardization for representation of technical information along the life cycle of a product</a:t>
            </a:r>
          </a:p>
          <a:p>
            <a:pPr marL="1900227" lvl="4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Services</a:t>
            </a:r>
          </a:p>
          <a:p>
            <a:pPr marL="1900227" lvl="4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Devices</a:t>
            </a:r>
          </a:p>
          <a:p>
            <a:pPr marL="1900227" lvl="4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Systems</a:t>
            </a:r>
          </a:p>
          <a:p>
            <a:pPr marL="1900227" lvl="4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Software</a:t>
            </a:r>
          </a:p>
          <a:p>
            <a:pPr marL="1900227" lvl="4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Plants, etc.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Classes, Properties, Identification for various industry areas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Machine-interoperable</a:t>
            </a:r>
            <a:r>
              <a:rPr lang="ja-JP" altLang="en-US" sz="2200" dirty="0"/>
              <a:t> </a:t>
            </a:r>
            <a:r>
              <a:rPr lang="en-US" altLang="ja-JP" sz="2200" dirty="0"/>
              <a:t>methodology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Available for all ISO, IEC products and systems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Standardized product ontology DB: </a:t>
            </a:r>
            <a:r>
              <a:rPr lang="en-US" altLang="ja-JP" sz="2200" dirty="0">
                <a:hlinkClick r:id="rId3"/>
              </a:rPr>
              <a:t>https://cdd.iec.ch/</a:t>
            </a:r>
            <a:endParaRPr lang="en-US" altLang="ja-JP" sz="22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8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2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10348157" cy="761119"/>
          </a:xfrm>
        </p:spPr>
        <p:txBody>
          <a:bodyPr>
            <a:normAutofit fontScale="90000"/>
          </a:bodyPr>
          <a:lstStyle/>
          <a:p>
            <a:r>
              <a:rPr lang="en-GB" sz="4267" dirty="0"/>
              <a:t>IPA DADC</a:t>
            </a:r>
            <a:br>
              <a:rPr lang="en-GB" sz="4267" dirty="0"/>
            </a:br>
            <a:r>
              <a:rPr lang="en-GB" sz="4267" dirty="0"/>
              <a:t>=&gt; Smart Building Co-Creation Organization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1311" y="1427746"/>
            <a:ext cx="11960689" cy="5167125"/>
          </a:xfrm>
        </p:spPr>
        <p:txBody>
          <a:bodyPr>
            <a:noAutofit/>
          </a:bodyPr>
          <a:lstStyle/>
          <a:p>
            <a:pPr marL="528627" lvl="1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Smart building use cases and system development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 err="1"/>
              <a:t>Takenaka</a:t>
            </a:r>
            <a:r>
              <a:rPr lang="en-US" altLang="ja-JP" sz="2200" dirty="0"/>
              <a:t> Corporation has developed a data platform for smart buildings based on the </a:t>
            </a:r>
            <a:r>
              <a:rPr lang="en-US" altLang="ja-JP" sz="2200" b="1" dirty="0"/>
              <a:t>W3C </a:t>
            </a:r>
            <a:r>
              <a:rPr lang="en-US" altLang="ja-JP" sz="2200" b="1" dirty="0" err="1"/>
              <a:t>WoT</a:t>
            </a:r>
            <a:r>
              <a:rPr lang="en-US" altLang="ja-JP" sz="2200" b="1" dirty="0"/>
              <a:t> standard</a:t>
            </a:r>
            <a:r>
              <a:rPr lang="en-US" altLang="ja-JP" sz="2200" dirty="0"/>
              <a:t>.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Based on the lambda architecture which is a best practice for </a:t>
            </a:r>
            <a:r>
              <a:rPr lang="en-US" altLang="ja-JP" sz="2200" b="1" dirty="0"/>
              <a:t>real-time data processing</a:t>
            </a:r>
            <a:r>
              <a:rPr lang="en-US" altLang="ja-JP" sz="2200" dirty="0"/>
              <a:t>.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 err="1"/>
              <a:t>WoT</a:t>
            </a:r>
            <a:r>
              <a:rPr lang="en-US" altLang="ja-JP" sz="2200" dirty="0"/>
              <a:t> is used to implement </a:t>
            </a:r>
            <a:r>
              <a:rPr lang="en-US" altLang="ja-JP" sz="2200" b="1" dirty="0"/>
              <a:t>data models and APIs</a:t>
            </a:r>
            <a:r>
              <a:rPr lang="en-US" altLang="ja-JP" sz="2200" dirty="0"/>
              <a:t>.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The platform is the foundation for various services such as </a:t>
            </a:r>
            <a:r>
              <a:rPr lang="en-US" altLang="ja-JP" sz="2200" b="1" dirty="0"/>
              <a:t>energy management</a:t>
            </a:r>
            <a:r>
              <a:rPr lang="en-US" altLang="ja-JP" sz="2200" dirty="0"/>
              <a:t>, </a:t>
            </a:r>
            <a:r>
              <a:rPr lang="en-US" altLang="ja-JP" sz="2200" b="1" dirty="0"/>
              <a:t>AI control</a:t>
            </a:r>
            <a:r>
              <a:rPr lang="en-US" altLang="ja-JP" sz="2200" dirty="0"/>
              <a:t>, </a:t>
            </a:r>
            <a:r>
              <a:rPr lang="en-US" altLang="ja-JP" sz="2200" b="1" dirty="0"/>
              <a:t>personal control </a:t>
            </a:r>
            <a:r>
              <a:rPr lang="en-US" altLang="ja-JP" sz="2200" dirty="0"/>
              <a:t>and </a:t>
            </a:r>
            <a:r>
              <a:rPr lang="en-US" altLang="ja-JP" sz="2200" b="1" dirty="0"/>
              <a:t>digital twin</a:t>
            </a:r>
            <a:r>
              <a:rPr lang="en-US" altLang="ja-JP" sz="2200" dirty="0"/>
              <a:t>.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Must manage </a:t>
            </a:r>
            <a:r>
              <a:rPr lang="en-US" altLang="ja-JP" sz="2200" b="1" dirty="0"/>
              <a:t>many devices </a:t>
            </a:r>
            <a:r>
              <a:rPr lang="en-US" altLang="ja-JP" sz="2200" dirty="0"/>
              <a:t>and </a:t>
            </a:r>
            <a:r>
              <a:rPr lang="en-US" altLang="ja-JP" sz="2200" b="1" dirty="0"/>
              <a:t>tons of associated measurement and control points</a:t>
            </a:r>
            <a:r>
              <a:rPr lang="en-US" altLang="ja-JP" sz="2200" dirty="0"/>
              <a:t>.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So it is impossible to generate a </a:t>
            </a:r>
            <a:r>
              <a:rPr lang="en-US" altLang="ja-JP" sz="2200" dirty="0" err="1"/>
              <a:t>WoT</a:t>
            </a:r>
            <a:r>
              <a:rPr lang="en-US" altLang="ja-JP" sz="2200" dirty="0"/>
              <a:t> TD for each device manually.</a:t>
            </a:r>
          </a:p>
          <a:p>
            <a:pPr marL="1443027" lvl="3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Need to extend the </a:t>
            </a:r>
            <a:r>
              <a:rPr lang="en-US" altLang="ja-JP" sz="2200" dirty="0" err="1"/>
              <a:t>WoT</a:t>
            </a:r>
            <a:r>
              <a:rPr lang="en-US" altLang="ja-JP" sz="2200" dirty="0"/>
              <a:t> standards for batch property acquisition.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9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/>
          </a:bodyPr>
          <a:lstStyle/>
          <a:p>
            <a:r>
              <a:rPr lang="en-GB" sz="4267" dirty="0"/>
              <a:t>ISO/IEC JTC1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15655" y="862016"/>
            <a:ext cx="11960689" cy="5167125"/>
          </a:xfrm>
        </p:spPr>
        <p:txBody>
          <a:bodyPr>
            <a:noAutofit/>
          </a:bodyPr>
          <a:lstStyle/>
          <a:p>
            <a:pPr marL="528627" lvl="1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Various standards on Smart Cities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30146:2019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21972:2020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30145-3:2020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30145-2:2020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30145-1:2021</a:t>
            </a:r>
          </a:p>
          <a:p>
            <a:pPr marL="528627" lvl="1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Pre-research and gap analysis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Standards needs and roadmap analysis for smart city standards from the ICT aspects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Data Use in Smart City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City digital twin and operating system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Unified Digital Infrastructure — ICT Reference</a:t>
            </a:r>
            <a:r>
              <a:rPr lang="ja-JP" altLang="en-US" sz="2200" dirty="0"/>
              <a:t> </a:t>
            </a:r>
            <a:r>
              <a:rPr lang="en-US" altLang="ja-JP" sz="2200" dirty="0"/>
              <a:t>Architecture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City Knowledge Trustworthiness Evaluation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Terminology-Ontology in Smart City System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ICT support in Public Health Emergency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endParaRPr lang="en-US" altLang="ja-JP" sz="22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10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497C96-A1A1-499C-C419-30CFD31FB5BE}"/>
              </a:ext>
            </a:extLst>
          </p:cNvPr>
          <p:cNvSpPr txBox="1">
            <a:spLocks/>
          </p:cNvSpPr>
          <p:nvPr/>
        </p:nvSpPr>
        <p:spPr>
          <a:xfrm>
            <a:off x="5093254" y="1241142"/>
            <a:ext cx="4589695" cy="5167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24039:2022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DIS 5087-1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CD 5087-2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AWI 5087-3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r>
              <a:rPr lang="en-US" altLang="ja-JP" sz="2200" dirty="0"/>
              <a:t>ISO/IEC CD 5153-1</a:t>
            </a:r>
          </a:p>
          <a:p>
            <a:pPr marL="985827" lvl="2" indent="-342900">
              <a:lnSpc>
                <a:spcPct val="100000"/>
              </a:lnSpc>
              <a:buClr>
                <a:schemeClr val="tx1"/>
              </a:buClr>
            </a:pPr>
            <a:endParaRPr lang="en-US" altLang="ja-JP" sz="2200" dirty="0"/>
          </a:p>
        </p:txBody>
      </p:sp>
    </p:spTree>
    <p:extLst>
      <p:ext uri="{BB962C8B-B14F-4D97-AF65-F5344CB8AC3E}">
        <p14:creationId xmlns:p14="http://schemas.microsoft.com/office/powerpoint/2010/main" val="2470958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/>
          </a:bodyPr>
          <a:lstStyle/>
          <a:p>
            <a:r>
              <a:rPr lang="en-GB" sz="4267" dirty="0"/>
              <a:t>ITU-T SG20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1311" y="1219200"/>
            <a:ext cx="11960689" cy="5167125"/>
          </a:xfrm>
        </p:spPr>
        <p:txBody>
          <a:bodyPr>
            <a:noAutofit/>
          </a:bodyPr>
          <a:lstStyle/>
          <a:p>
            <a:r>
              <a:rPr lang="en-GB" altLang="ja-JP" sz="2200" dirty="0"/>
              <a:t>Already done</a:t>
            </a:r>
          </a:p>
          <a:p>
            <a:pPr lvl="1"/>
            <a:r>
              <a:rPr lang="en-GB" altLang="ja-JP" sz="2200" dirty="0"/>
              <a:t>SG20 – Lead group on IoT and Smart Cities &amp; Communities</a:t>
            </a:r>
          </a:p>
          <a:p>
            <a:pPr lvl="1"/>
            <a:r>
              <a:rPr lang="en-GB" altLang="ja-JP" sz="2200" dirty="0"/>
              <a:t>FG-DPM (Data Processing and Management) </a:t>
            </a:r>
          </a:p>
          <a:p>
            <a:pPr lvl="1"/>
            <a:r>
              <a:rPr lang="en-GB" altLang="ja-JP" sz="2200" dirty="0"/>
              <a:t>Web of Things</a:t>
            </a:r>
          </a:p>
          <a:p>
            <a:pPr lvl="1"/>
            <a:r>
              <a:rPr lang="en-GB" altLang="ja-JP" sz="2200" dirty="0"/>
              <a:t>Data models (basic interoperability) </a:t>
            </a:r>
          </a:p>
          <a:p>
            <a:r>
              <a:rPr lang="en-GB" altLang="ja-JP" sz="2200" dirty="0"/>
              <a:t>To be done</a:t>
            </a:r>
          </a:p>
          <a:p>
            <a:pPr lvl="1"/>
            <a:r>
              <a:rPr lang="en-GB" altLang="ja-JP" sz="2200" dirty="0"/>
              <a:t>Smart cities ontology (semantic interoperability) </a:t>
            </a:r>
          </a:p>
          <a:p>
            <a:pPr lvl="1"/>
            <a:r>
              <a:rPr lang="en-GB" altLang="ja-JP" sz="2200" dirty="0"/>
              <a:t>Digital Twin for smart cities</a:t>
            </a:r>
          </a:p>
          <a:p>
            <a:pPr lvl="1"/>
            <a:r>
              <a:rPr lang="en-GB" altLang="ja-JP" sz="2200" dirty="0"/>
              <a:t>AI and data context </a:t>
            </a:r>
          </a:p>
          <a:p>
            <a:pPr lvl="1"/>
            <a:r>
              <a:rPr lang="en-GB" altLang="ja-JP" sz="2200" dirty="0"/>
              <a:t>Artificial Intelligence of Things: CG-</a:t>
            </a:r>
            <a:r>
              <a:rPr lang="en-GB" altLang="ja-JP" sz="2200" dirty="0" err="1"/>
              <a:t>AIoT</a:t>
            </a:r>
            <a:r>
              <a:rPr lang="en-GB" altLang="ja-JP" sz="2200" dirty="0"/>
              <a:t> activities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11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4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/>
          </a:bodyPr>
          <a:lstStyle/>
          <a:p>
            <a:r>
              <a:rPr lang="en-GB" sz="4267" dirty="0"/>
              <a:t>OGC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1311" y="890584"/>
            <a:ext cx="6083763" cy="5167125"/>
          </a:xfrm>
        </p:spPr>
        <p:txBody>
          <a:bodyPr>
            <a:noAutofit/>
          </a:bodyPr>
          <a:lstStyle/>
          <a:p>
            <a:r>
              <a:rPr lang="en-GB" altLang="ja-JP" sz="2000" dirty="0"/>
              <a:t>OGC Standards and Emerging Digital Twins</a:t>
            </a:r>
          </a:p>
          <a:p>
            <a:pPr lvl="1"/>
            <a:r>
              <a:rPr lang="en-GB" altLang="ja-JP" sz="2000" dirty="0"/>
              <a:t>Tools for representing and observing space</a:t>
            </a:r>
          </a:p>
          <a:p>
            <a:pPr lvl="2"/>
            <a:r>
              <a:rPr lang="en-GB" altLang="ja-JP" dirty="0"/>
              <a:t>General feature model</a:t>
            </a:r>
          </a:p>
          <a:p>
            <a:pPr lvl="2"/>
            <a:r>
              <a:rPr lang="en-GB" altLang="ja-JP" dirty="0"/>
              <a:t>Simple features</a:t>
            </a:r>
          </a:p>
          <a:p>
            <a:pPr lvl="2"/>
            <a:r>
              <a:rPr lang="en-GB" altLang="ja-JP" dirty="0"/>
              <a:t>City GML – </a:t>
            </a:r>
            <a:r>
              <a:rPr lang="en-GB" altLang="ja-JP" dirty="0" err="1"/>
              <a:t>CityJSON</a:t>
            </a:r>
            <a:endParaRPr lang="en-GB" altLang="ja-JP" dirty="0"/>
          </a:p>
          <a:p>
            <a:pPr lvl="2"/>
            <a:r>
              <a:rPr lang="en-GB" altLang="ja-JP" dirty="0"/>
              <a:t>3D Tiles –I3S</a:t>
            </a:r>
          </a:p>
          <a:p>
            <a:pPr lvl="2"/>
            <a:r>
              <a:rPr lang="en-GB" altLang="ja-JP" dirty="0" err="1"/>
              <a:t>WaterML</a:t>
            </a:r>
            <a:endParaRPr lang="en-GB" altLang="ja-JP" dirty="0"/>
          </a:p>
          <a:p>
            <a:pPr lvl="2"/>
            <a:r>
              <a:rPr lang="en-GB" altLang="ja-JP" dirty="0" err="1"/>
              <a:t>GeoSciML</a:t>
            </a:r>
            <a:endParaRPr lang="en-GB" altLang="ja-JP" dirty="0"/>
          </a:p>
          <a:p>
            <a:pPr lvl="2"/>
            <a:r>
              <a:rPr lang="en-GB" altLang="ja-JP" dirty="0"/>
              <a:t>MUDDI Underground Info</a:t>
            </a:r>
          </a:p>
          <a:p>
            <a:pPr lvl="2"/>
            <a:r>
              <a:rPr lang="en-GB" altLang="ja-JP" dirty="0"/>
              <a:t>OGC API Features</a:t>
            </a:r>
          </a:p>
          <a:p>
            <a:pPr lvl="2"/>
            <a:r>
              <a:rPr lang="en-GB" altLang="ja-JP" dirty="0"/>
              <a:t>Observations and Measurements</a:t>
            </a:r>
          </a:p>
          <a:p>
            <a:pPr lvl="2"/>
            <a:r>
              <a:rPr lang="en-GB" altLang="ja-JP" dirty="0" err="1"/>
              <a:t>SensorThings</a:t>
            </a:r>
            <a:r>
              <a:rPr lang="en-GB" altLang="ja-JP" dirty="0"/>
              <a:t> API</a:t>
            </a:r>
          </a:p>
          <a:p>
            <a:pPr lvl="2"/>
            <a:r>
              <a:rPr lang="en-GB" altLang="ja-JP" dirty="0"/>
              <a:t>OGC API Processes</a:t>
            </a:r>
          </a:p>
          <a:p>
            <a:pPr lvl="2"/>
            <a:r>
              <a:rPr lang="en-GB" altLang="ja-JP" dirty="0"/>
              <a:t>Moving features</a:t>
            </a:r>
          </a:p>
          <a:p>
            <a:pPr lvl="2"/>
            <a:r>
              <a:rPr lang="en-GB" altLang="ja-JP" dirty="0" err="1"/>
              <a:t>GeoPose</a:t>
            </a:r>
            <a:endParaRPr lang="en-GB" altLang="ja-JP" dirty="0"/>
          </a:p>
          <a:p>
            <a:pPr lvl="2"/>
            <a:r>
              <a:rPr lang="en-GB" altLang="ja-JP" dirty="0"/>
              <a:t>IMDF</a:t>
            </a:r>
          </a:p>
          <a:p>
            <a:pPr lvl="2"/>
            <a:r>
              <a:rPr lang="en-GB" altLang="ja-JP" dirty="0"/>
              <a:t>LAS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12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27CD47-2F08-DD4D-3956-32EE93D3BC12}"/>
              </a:ext>
            </a:extLst>
          </p:cNvPr>
          <p:cNvSpPr txBox="1">
            <a:spLocks/>
          </p:cNvSpPr>
          <p:nvPr/>
        </p:nvSpPr>
        <p:spPr>
          <a:xfrm>
            <a:off x="5689137" y="900096"/>
            <a:ext cx="6083763" cy="5167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ja-JP" sz="2000" dirty="0"/>
              <a:t>OGC Innovation and Future Digital Twins</a:t>
            </a:r>
          </a:p>
          <a:p>
            <a:pPr lvl="1"/>
            <a:r>
              <a:rPr lang="en-GB" altLang="ja-JP" sz="2000" dirty="0"/>
              <a:t>Looks the same, behaves the same, is not the same</a:t>
            </a:r>
          </a:p>
          <a:p>
            <a:pPr lvl="2"/>
            <a:r>
              <a:rPr lang="en-GB" altLang="ja-JP" dirty="0"/>
              <a:t>Location powers urban digital twins</a:t>
            </a:r>
          </a:p>
          <a:p>
            <a:pPr lvl="3"/>
            <a:r>
              <a:rPr lang="en-GB" altLang="ja-JP" sz="2000" dirty="0"/>
              <a:t>Urban digital twin summit</a:t>
            </a:r>
          </a:p>
          <a:p>
            <a:pPr lvl="2"/>
            <a:r>
              <a:rPr lang="en-GB" altLang="ja-JP" dirty="0"/>
              <a:t>3D-IoT – Modern spatial data infrastructure</a:t>
            </a:r>
          </a:p>
          <a:p>
            <a:pPr lvl="3"/>
            <a:r>
              <a:rPr lang="en-GB" altLang="ja-JP" sz="2000" dirty="0"/>
              <a:t>Integrated digital built environment</a:t>
            </a:r>
          </a:p>
          <a:p>
            <a:pPr lvl="2"/>
            <a:r>
              <a:rPr lang="en-GB" altLang="ja-JP" dirty="0"/>
              <a:t>Simulation, Prediction, Digital Twins in the Metaverse</a:t>
            </a:r>
          </a:p>
        </p:txBody>
      </p:sp>
    </p:spTree>
    <p:extLst>
      <p:ext uri="{BB962C8B-B14F-4D97-AF65-F5344CB8AC3E}">
        <p14:creationId xmlns:p14="http://schemas.microsoft.com/office/powerpoint/2010/main" val="3457970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0502" y="2613455"/>
            <a:ext cx="7525796" cy="13716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ja-JP" sz="4800" dirty="0">
                <a:ea typeface="メイリオ"/>
              </a:rPr>
              <a:t>W3C’s Web Standardization</a:t>
            </a:r>
            <a:br>
              <a:rPr lang="en-US" altLang="ja-JP" sz="4800" dirty="0">
                <a:ea typeface="メイリオ"/>
              </a:rPr>
            </a:br>
            <a:r>
              <a:rPr lang="en-US" altLang="ja-JP" sz="4800" dirty="0">
                <a:ea typeface="メイリオ"/>
                <a:cs typeface="Calibri"/>
              </a:rPr>
              <a:t>related to Smart Cities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65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14</a:t>
            </a:fld>
            <a:endParaRPr lang="en-US" alt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タイトル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ja-JP" sz="3733" dirty="0"/>
              <a:t>Web</a:t>
            </a:r>
            <a:r>
              <a:rPr lang="ja-JP" altLang="en-US" sz="3733" dirty="0"/>
              <a:t> </a:t>
            </a:r>
            <a:r>
              <a:rPr lang="en-US" altLang="ja-JP" sz="3733" dirty="0"/>
              <a:t>as</a:t>
            </a:r>
            <a:r>
              <a:rPr lang="ja-JP" altLang="en-US" sz="3733" dirty="0"/>
              <a:t> </a:t>
            </a:r>
            <a:r>
              <a:rPr lang="en-US" altLang="ja-JP" sz="3733" dirty="0"/>
              <a:t>platform</a:t>
            </a:r>
            <a:r>
              <a:rPr lang="ja-JP" altLang="en-US" sz="3733" dirty="0"/>
              <a:t> </a:t>
            </a:r>
            <a:r>
              <a:rPr lang="en-US" altLang="ja-JP" sz="3733" dirty="0"/>
              <a:t>for</a:t>
            </a:r>
            <a:r>
              <a:rPr lang="ja-JP" altLang="en-US" sz="3733" dirty="0"/>
              <a:t> </a:t>
            </a:r>
            <a:r>
              <a:rPr lang="en-US" altLang="ja-JP" sz="3733" dirty="0"/>
              <a:t>data</a:t>
            </a:r>
            <a:r>
              <a:rPr lang="ja-JP" altLang="en-US" sz="3733" dirty="0"/>
              <a:t> </a:t>
            </a:r>
            <a:r>
              <a:rPr lang="en-US" altLang="ja-JP" sz="3733" dirty="0"/>
              <a:t>transfer in general</a:t>
            </a:r>
            <a:br>
              <a:rPr lang="en-US" altLang="ja-JP" sz="3733" dirty="0"/>
            </a:br>
            <a:r>
              <a:rPr lang="en-US" altLang="ja-JP" sz="3200" dirty="0"/>
              <a:t>- Independent from devices or OSs</a:t>
            </a:r>
            <a:endParaRPr lang="ja-JP" altLang="en-US" sz="3200" dirty="0"/>
          </a:p>
        </p:txBody>
      </p:sp>
      <p:pic>
        <p:nvPicPr>
          <p:cNvPr id="4" name="図 3" descr="テキスト, 地図 が含まれている画像&#10;&#10;自動的に生成された説明">
            <a:extLst>
              <a:ext uri="{FF2B5EF4-FFF2-40B4-BE49-F238E27FC236}">
                <a16:creationId xmlns:a16="http://schemas.microsoft.com/office/drawing/2014/main" id="{9ACC70F3-71A5-4BE4-96E2-8B3318433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28" y="1219201"/>
            <a:ext cx="7399816" cy="523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19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15</a:t>
            </a:fld>
            <a:endParaRPr lang="en-US" alt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タイトル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733" dirty="0"/>
              <a:t>Web standards applied to various industries</a:t>
            </a:r>
            <a:br>
              <a:rPr lang="en-GB" altLang="ja-JP" sz="3733" dirty="0"/>
            </a:b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820" y="1238114"/>
            <a:ext cx="7319763" cy="517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31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2256" y="155129"/>
            <a:ext cx="11078633" cy="936761"/>
          </a:xfrm>
        </p:spPr>
        <p:txBody>
          <a:bodyPr>
            <a:normAutofit fontScale="90000"/>
          </a:bodyPr>
          <a:lstStyle/>
          <a:p>
            <a:r>
              <a:rPr lang="en-US" altLang="ja-JP" sz="4250" dirty="0" err="1">
                <a:ea typeface="メイリオ"/>
              </a:rPr>
              <a:t>WoT</a:t>
            </a:r>
            <a:r>
              <a:rPr lang="en-US" altLang="ja-JP" sz="4250" dirty="0">
                <a:ea typeface="メイリオ"/>
              </a:rPr>
              <a:t>: Interconnection of IoT silos </a:t>
            </a:r>
            <a:br>
              <a:rPr lang="en-US" altLang="ja-JP" sz="4250" dirty="0"/>
            </a:br>
            <a:endParaRPr lang="en-US" sz="24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図 4" descr="文字と写真のスクリーンショット&#10;&#10;自動的に生成された説明">
            <a:extLst>
              <a:ext uri="{FF2B5EF4-FFF2-40B4-BE49-F238E27FC236}">
                <a16:creationId xmlns:a16="http://schemas.microsoft.com/office/drawing/2014/main" id="{51A93D6D-D8E1-417B-B73D-48F8E401E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70" y="1845137"/>
            <a:ext cx="4279971" cy="336640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684B9BA-3F56-5386-EC22-B45A3B867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883" y="861590"/>
            <a:ext cx="4947247" cy="5556422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5832A45-5D05-FC20-57C6-D87928DCAF78}"/>
              </a:ext>
            </a:extLst>
          </p:cNvPr>
          <p:cNvCxnSpPr>
            <a:cxnSpLocks/>
          </p:cNvCxnSpPr>
          <p:nvPr/>
        </p:nvCxnSpPr>
        <p:spPr>
          <a:xfrm>
            <a:off x="5253137" y="3639801"/>
            <a:ext cx="1059024" cy="0"/>
          </a:xfrm>
          <a:prstGeom prst="straightConnector1">
            <a:avLst/>
          </a:prstGeom>
          <a:ln w="215900"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580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6952" y="180564"/>
            <a:ext cx="11748653" cy="936761"/>
          </a:xfrm>
        </p:spPr>
        <p:txBody>
          <a:bodyPr/>
          <a:lstStyle/>
          <a:p>
            <a:r>
              <a:rPr lang="en-US" sz="4267" dirty="0"/>
              <a:t>Unified vocabulary references by Thing Description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図 5" descr="黒い背景と白い文字&#10;&#10;自動的に生成された説明">
            <a:extLst>
              <a:ext uri="{FF2B5EF4-FFF2-40B4-BE49-F238E27FC236}">
                <a16:creationId xmlns:a16="http://schemas.microsoft.com/office/drawing/2014/main" id="{0EBB78E0-C3FD-41D4-989E-EF95EBFF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54" y="1195418"/>
            <a:ext cx="5547621" cy="524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15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11015" y="2930769"/>
            <a:ext cx="11272391" cy="2793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ja-JP" sz="4800" dirty="0">
                <a:solidFill>
                  <a:schemeClr val="tx1"/>
                </a:solidFill>
                <a:ea typeface="メイリオ"/>
              </a:rPr>
              <a:t>What is still missing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altLang="ja-JP" sz="4800" dirty="0">
                <a:solidFill>
                  <a:schemeClr val="tx1"/>
                </a:solidFill>
                <a:ea typeface="メイリオ"/>
              </a:rPr>
              <a:t>    for global “Smart Cities”?</a:t>
            </a:r>
            <a:endParaRPr lang="en-US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en-US" altLang="ja-JP" sz="4800" dirty="0">
              <a:solidFill>
                <a:schemeClr val="tx1"/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/>
          <a:lstStyle/>
          <a:p>
            <a:r>
              <a:rPr lang="en-GB" sz="4267" dirty="0"/>
              <a:t>Strong need for…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2559" y="1006106"/>
            <a:ext cx="11150877" cy="5167125"/>
          </a:xfrm>
        </p:spPr>
        <p:txBody>
          <a:bodyPr>
            <a:noAutofit/>
          </a:bodyPr>
          <a:lstStyle/>
          <a:p>
            <a:pPr marL="528619" lvl="1" indent="-342891">
              <a:buClr>
                <a:schemeClr val="tx1"/>
              </a:buClr>
            </a:pPr>
            <a:r>
              <a:rPr lang="en-US" altLang="ja-JP" sz="4000" dirty="0"/>
              <a:t>Standardized platform for data transfer and distribution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4000" dirty="0"/>
              <a:t>Binding among various systems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4000" dirty="0"/>
              <a:t>ID authentication and management</a:t>
            </a:r>
          </a:p>
          <a:p>
            <a:pPr marL="528619" lvl="1" indent="-342891">
              <a:buClr>
                <a:schemeClr val="tx1"/>
              </a:buClr>
            </a:pPr>
            <a:r>
              <a:rPr lang="en-US" altLang="ja-JP" sz="4000" dirty="0"/>
              <a:t>Standardized vocabulary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3600" dirty="0"/>
              <a:t>Semantic interoperability among various systems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3600" dirty="0"/>
              <a:t>Catalog for easy data access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19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12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/>
          <a:lstStyle/>
          <a:p>
            <a:r>
              <a:rPr lang="en-GB" sz="4267" dirty="0"/>
              <a:t>“Digital Twins” as the Key Concept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9668" y="1391872"/>
            <a:ext cx="11150877" cy="5167125"/>
          </a:xfrm>
        </p:spPr>
        <p:txBody>
          <a:bodyPr>
            <a:noAutofit/>
          </a:bodyPr>
          <a:lstStyle/>
          <a:p>
            <a:pPr marL="482199" lvl="1" indent="-342900">
              <a:buClr>
                <a:schemeClr val="tx1"/>
              </a:buClr>
            </a:pPr>
            <a:r>
              <a:rPr lang="en-US" altLang="ja-JP" sz="2800" dirty="0"/>
              <a:t>Virtualization of</a:t>
            </a:r>
          </a:p>
          <a:p>
            <a:pPr marL="939399" lvl="2" indent="-342900">
              <a:buClr>
                <a:schemeClr val="tx1"/>
              </a:buClr>
            </a:pPr>
            <a:r>
              <a:rPr lang="en-US" altLang="ja-JP" sz="2800" dirty="0"/>
              <a:t>Devices</a:t>
            </a:r>
          </a:p>
          <a:p>
            <a:pPr marL="939399" lvl="2" indent="-342900">
              <a:buClr>
                <a:schemeClr val="tx1"/>
              </a:buClr>
            </a:pPr>
            <a:r>
              <a:rPr lang="en-US" altLang="ja-JP" sz="2800" dirty="0"/>
              <a:t>Users</a:t>
            </a:r>
          </a:p>
          <a:p>
            <a:pPr marL="939399" lvl="2" indent="-342900">
              <a:buClr>
                <a:schemeClr val="tx1"/>
              </a:buClr>
            </a:pPr>
            <a:r>
              <a:rPr lang="en-US" altLang="ja-JP" sz="2800" dirty="0"/>
              <a:t>Services</a:t>
            </a:r>
          </a:p>
          <a:p>
            <a:pPr marL="482199" lvl="1" indent="-342900">
              <a:buClr>
                <a:schemeClr val="tx1"/>
              </a:buClr>
            </a:pPr>
            <a:r>
              <a:rPr lang="en-US" altLang="ja-JP" sz="2800" dirty="0"/>
              <a:t>Correspondence between:</a:t>
            </a:r>
          </a:p>
          <a:p>
            <a:pPr marL="939399" lvl="2" indent="-342900">
              <a:buClr>
                <a:schemeClr val="tx1"/>
              </a:buClr>
            </a:pPr>
            <a:r>
              <a:rPr lang="en-US" altLang="ja-JP" sz="2800" dirty="0"/>
              <a:t>Virtual Layer</a:t>
            </a:r>
          </a:p>
          <a:p>
            <a:pPr marL="939399" lvl="2" indent="-342900">
              <a:buClr>
                <a:schemeClr val="tx1"/>
              </a:buClr>
            </a:pPr>
            <a:r>
              <a:rPr lang="en-US" altLang="ja-JP" sz="2800" dirty="0"/>
              <a:t>Physical Layer</a:t>
            </a:r>
          </a:p>
          <a:p>
            <a:pPr marL="939399" lvl="2" indent="-342900">
              <a:buClr>
                <a:schemeClr val="tx1"/>
              </a:buClr>
            </a:pPr>
            <a:endParaRPr lang="en-US" altLang="ja-JP" sz="2800" dirty="0"/>
          </a:p>
          <a:p>
            <a:pPr marL="939399" lvl="2" indent="-342900">
              <a:buClr>
                <a:schemeClr val="tx1"/>
              </a:buClr>
            </a:pPr>
            <a:endParaRPr lang="en-US" altLang="ja-JP" sz="2800" dirty="0"/>
          </a:p>
          <a:p>
            <a:pPr marL="139299" lvl="1" indent="0">
              <a:buClr>
                <a:schemeClr val="tx1"/>
              </a:buClr>
              <a:buNone/>
            </a:pPr>
            <a:r>
              <a:rPr lang="ja-JP" altLang="en-US" sz="2800" dirty="0">
                <a:solidFill>
                  <a:srgbClr val="FF0000"/>
                </a:solidFill>
              </a:rPr>
              <a:t>⇒ </a:t>
            </a:r>
            <a:r>
              <a:rPr lang="en-US" altLang="ja-JP" sz="2800" dirty="0">
                <a:solidFill>
                  <a:srgbClr val="FF0000"/>
                </a:solidFill>
              </a:rPr>
              <a:t>Useful for easy handling from Web Applications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20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図 4" descr="ダイアグラム&#10;&#10;自動的に生成された説明">
            <a:extLst>
              <a:ext uri="{FF2B5EF4-FFF2-40B4-BE49-F238E27FC236}">
                <a16:creationId xmlns:a16="http://schemas.microsoft.com/office/drawing/2014/main" id="{0313D82E-7637-A86D-DAC8-53F5CBF9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104" y="1660849"/>
            <a:ext cx="6406228" cy="260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96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/>
          <a:lstStyle/>
          <a:p>
            <a:r>
              <a:rPr lang="en-US" altLang="ja-JP" sz="4400" dirty="0"/>
              <a:t>Web-based Digital Twins Framework</a:t>
            </a:r>
            <a:endParaRPr lang="en-GB" sz="4267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85948" y="1456829"/>
            <a:ext cx="7273442" cy="5167125"/>
          </a:xfrm>
        </p:spPr>
        <p:txBody>
          <a:bodyPr>
            <a:noAutofit/>
          </a:bodyPr>
          <a:lstStyle/>
          <a:p>
            <a:pPr marL="482199" lvl="1" indent="-342900">
              <a:buClr>
                <a:schemeClr val="tx1"/>
              </a:buClr>
            </a:pPr>
            <a:r>
              <a:rPr lang="en-US" altLang="ja-JP" sz="2800" dirty="0">
                <a:solidFill>
                  <a:schemeClr val="tx1"/>
                </a:solidFill>
              </a:rPr>
              <a:t>Decentralized Identifiers (DID):</a:t>
            </a:r>
          </a:p>
          <a:p>
            <a:pPr marL="1110849" lvl="3" indent="-342900">
              <a:buClr>
                <a:schemeClr val="tx1"/>
              </a:buClr>
            </a:pPr>
            <a:r>
              <a:rPr lang="en-US" altLang="ja-JP" sz="2800" dirty="0">
                <a:solidFill>
                  <a:schemeClr val="tx1"/>
                </a:solidFill>
              </a:rPr>
              <a:t>Unique identifier for the Virtual Layer</a:t>
            </a:r>
          </a:p>
          <a:p>
            <a:pPr marL="1110849" lvl="3" indent="-342900">
              <a:buClr>
                <a:schemeClr val="tx1"/>
              </a:buClr>
            </a:pPr>
            <a:r>
              <a:rPr lang="en-US" altLang="ja-JP" sz="2800" dirty="0"/>
              <a:t>Identify Devices, Users and Services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marL="482199" lvl="1" indent="-342900">
              <a:buClr>
                <a:schemeClr val="tx1"/>
              </a:buClr>
            </a:pPr>
            <a:r>
              <a:rPr lang="en-US" altLang="ja-JP" sz="2800" dirty="0">
                <a:solidFill>
                  <a:schemeClr val="tx1"/>
                </a:solidFill>
              </a:rPr>
              <a:t>Web of Things (</a:t>
            </a:r>
            <a:r>
              <a:rPr lang="en-US" altLang="ja-JP" sz="2800" dirty="0" err="1">
                <a:solidFill>
                  <a:schemeClr val="tx1"/>
                </a:solidFill>
              </a:rPr>
              <a:t>WoT</a:t>
            </a:r>
            <a:r>
              <a:rPr lang="en-US" altLang="ja-JP" sz="2800" dirty="0">
                <a:solidFill>
                  <a:schemeClr val="tx1"/>
                </a:solidFill>
              </a:rPr>
              <a:t>):</a:t>
            </a:r>
          </a:p>
          <a:p>
            <a:pPr marL="1110849" lvl="3" indent="-342900">
              <a:buClr>
                <a:schemeClr val="tx1"/>
              </a:buClr>
            </a:pPr>
            <a:r>
              <a:rPr lang="en-US" altLang="ja-JP" sz="2800" dirty="0"/>
              <a:t>Handling Devices on the Virtual Layer</a:t>
            </a:r>
          </a:p>
          <a:p>
            <a:pPr marL="1110849" lvl="3" indent="-342900">
              <a:buClr>
                <a:schemeClr val="tx1"/>
              </a:buClr>
            </a:pPr>
            <a:r>
              <a:rPr lang="en-US" altLang="ja-JP" sz="2800" dirty="0"/>
              <a:t>Mapping to the Physical Devices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marL="482199" lvl="1" indent="-342900">
              <a:buClr>
                <a:schemeClr val="tx1"/>
              </a:buClr>
            </a:pPr>
            <a:r>
              <a:rPr lang="en-US" altLang="ja-JP" sz="2800" dirty="0">
                <a:solidFill>
                  <a:schemeClr val="tx1"/>
                </a:solidFill>
              </a:rPr>
              <a:t>Verifiable Credentials (VC):</a:t>
            </a:r>
          </a:p>
          <a:p>
            <a:pPr marL="1110849" lvl="3" indent="-342900">
              <a:buClr>
                <a:schemeClr val="tx1"/>
              </a:buClr>
            </a:pPr>
            <a:r>
              <a:rPr lang="en-US" altLang="ja-JP" sz="2800" dirty="0">
                <a:solidFill>
                  <a:schemeClr val="tx1"/>
                </a:solidFill>
              </a:rPr>
              <a:t>Manage User Credential on the Virtual Layer</a:t>
            </a:r>
          </a:p>
          <a:p>
            <a:pPr marL="1110849" lvl="3" indent="-342900">
              <a:buClr>
                <a:schemeClr val="tx1"/>
              </a:buClr>
            </a:pPr>
            <a:r>
              <a:rPr lang="en-US" altLang="ja-JP" sz="2800" dirty="0">
                <a:solidFill>
                  <a:schemeClr val="tx1"/>
                </a:solidFill>
              </a:rPr>
              <a:t>Describe User Credential for Device/Service access</a:t>
            </a:r>
            <a:endParaRPr lang="en-US" altLang="ja-JP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21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6B6D2ED-DEA2-AAF2-5209-86AF565C7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49" y="1378163"/>
            <a:ext cx="4723137" cy="423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779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59" y="244989"/>
            <a:ext cx="11006883" cy="761119"/>
          </a:xfrm>
        </p:spPr>
        <p:txBody>
          <a:bodyPr>
            <a:normAutofit/>
          </a:bodyPr>
          <a:lstStyle/>
          <a:p>
            <a:r>
              <a:rPr lang="en-US" altLang="ja-JP" sz="4267" dirty="0"/>
              <a:t>Need for Standardized Vocabulary</a:t>
            </a:r>
            <a:endParaRPr lang="en-GB" sz="4267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6635" y="1275466"/>
            <a:ext cx="11396803" cy="5167125"/>
          </a:xfrm>
        </p:spPr>
        <p:txBody>
          <a:bodyPr>
            <a:noAutofit/>
          </a:bodyPr>
          <a:lstStyle/>
          <a:p>
            <a:pPr marL="757209" lvl="1" indent="-571486">
              <a:buClr>
                <a:schemeClr val="tx1"/>
              </a:buClr>
            </a:pPr>
            <a:r>
              <a:rPr lang="en-US" altLang="ja-JP" sz="3200" dirty="0"/>
              <a:t>Definition and References</a:t>
            </a:r>
          </a:p>
          <a:p>
            <a:pPr marL="757209" lvl="1" indent="-571486">
              <a:buClr>
                <a:schemeClr val="tx1"/>
              </a:buClr>
            </a:pPr>
            <a:r>
              <a:rPr lang="en-US" altLang="ja-JP" sz="3200" dirty="0"/>
              <a:t>Ontology standards are provided by W3C:</a:t>
            </a:r>
          </a:p>
          <a:p>
            <a:pPr marL="1214398" lvl="2" indent="-571486">
              <a:buClr>
                <a:schemeClr val="tx1"/>
              </a:buClr>
            </a:pPr>
            <a:r>
              <a:rPr lang="en-US" altLang="ja-JP" sz="3200" dirty="0">
                <a:hlinkClick r:id="rId3"/>
              </a:rPr>
              <a:t>RDF</a:t>
            </a:r>
            <a:r>
              <a:rPr lang="en-US" altLang="ja-JP" sz="3200" dirty="0"/>
              <a:t> and </a:t>
            </a:r>
            <a:r>
              <a:rPr lang="en-US" altLang="ja-JP" sz="3200" dirty="0">
                <a:hlinkClick r:id="rId4"/>
              </a:rPr>
              <a:t>RDF Schemas</a:t>
            </a:r>
            <a:endParaRPr lang="en-US" altLang="ja-JP" sz="3200" dirty="0"/>
          </a:p>
          <a:p>
            <a:pPr marL="1214398" lvl="2" indent="-571486">
              <a:buClr>
                <a:schemeClr val="tx1"/>
              </a:buClr>
            </a:pPr>
            <a:r>
              <a:rPr lang="en-US" altLang="ja-JP" sz="3200" dirty="0">
                <a:hlinkClick r:id="rId5"/>
              </a:rPr>
              <a:t>Web Ontology Language (OWL)</a:t>
            </a:r>
            <a:endParaRPr lang="en-US" altLang="ja-JP" sz="3200" dirty="0"/>
          </a:p>
          <a:p>
            <a:pPr marL="1214398" lvl="2" indent="-571486">
              <a:buClr>
                <a:schemeClr val="tx1"/>
              </a:buClr>
            </a:pPr>
            <a:r>
              <a:rPr lang="en-US" altLang="ja-JP" sz="3200" dirty="0">
                <a:hlinkClick r:id="rId6"/>
              </a:rPr>
              <a:t>Rule Interchange Format (RIF)</a:t>
            </a:r>
            <a:endParaRPr lang="en-US" altLang="ja-JP" sz="3200" dirty="0"/>
          </a:p>
          <a:p>
            <a:pPr marL="1214398" lvl="2" indent="-571486">
              <a:buClr>
                <a:schemeClr val="tx1"/>
              </a:buClr>
            </a:pPr>
            <a:r>
              <a:rPr lang="en-US" altLang="ja-JP" sz="3200" dirty="0">
                <a:hlinkClick r:id="rId7"/>
              </a:rPr>
              <a:t>Data Catalog Vocabulary (DCAT)</a:t>
            </a:r>
            <a:endParaRPr lang="en-US" altLang="ja-JP" sz="3200" dirty="0"/>
          </a:p>
          <a:p>
            <a:pPr marL="757209" lvl="1" indent="-571486">
              <a:buClr>
                <a:schemeClr val="tx1"/>
              </a:buClr>
            </a:pPr>
            <a:r>
              <a:rPr lang="en-US" altLang="ja-JP" sz="3200" dirty="0"/>
              <a:t>Proposal:</a:t>
            </a:r>
          </a:p>
          <a:p>
            <a:pPr marL="1214398" lvl="2" indent="-571486">
              <a:buClr>
                <a:schemeClr val="tx1"/>
              </a:buClr>
            </a:pPr>
            <a:r>
              <a:rPr lang="en-US" altLang="ja-JP" sz="3200" dirty="0"/>
              <a:t>Let’s have collative discussions at W3C as a hub to clarify what ’s done and what’s missing!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22</a:t>
            </a:fld>
            <a:endParaRPr lang="en-US" altLang="ja-JP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51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65424" y="218309"/>
            <a:ext cx="11078633" cy="936761"/>
          </a:xfrm>
        </p:spPr>
        <p:txBody>
          <a:bodyPr>
            <a:normAutofit/>
          </a:bodyPr>
          <a:lstStyle/>
          <a:p>
            <a:r>
              <a:rPr lang="en-US" altLang="ja-JP" sz="4400" dirty="0">
                <a:solidFill>
                  <a:schemeClr val="tx1"/>
                </a:solidFill>
              </a:rPr>
              <a:t>W3C as the Hub for Collaborative Discussions!</a:t>
            </a:r>
            <a:endParaRPr lang="en-GB" altLang="ja-JP" sz="440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97B1CF-C5DD-6D9C-8167-58486477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13" y="961023"/>
            <a:ext cx="4837190" cy="539532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7B062C8-CC13-C2F1-0991-F2448D45B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4718" y="938539"/>
            <a:ext cx="7395350" cy="9367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lvl="1" indent="0">
              <a:buNone/>
            </a:pPr>
            <a:r>
              <a:rPr lang="en-US" altLang="ja-JP" sz="2800" dirty="0">
                <a:ea typeface="メイリオ"/>
              </a:rPr>
              <a:t>Web-based Digital Twins for Smart Cities Interest Group has been established!!!</a:t>
            </a:r>
            <a:endParaRPr lang="en-US" sz="2800" dirty="0">
              <a:ea typeface="メイリオ"/>
              <a:cs typeface="Calibri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B76DD8-697E-0662-FC3A-D03D1149A96F}"/>
              </a:ext>
            </a:extLst>
          </p:cNvPr>
          <p:cNvSpPr txBox="1">
            <a:spLocks/>
          </p:cNvSpPr>
          <p:nvPr/>
        </p:nvSpPr>
        <p:spPr>
          <a:xfrm>
            <a:off x="6466223" y="5912090"/>
            <a:ext cx="4114800" cy="392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spcBef>
                <a:spcPts val="150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itchFamily="2" charset="2"/>
              <a:buChar char="l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685800" rtl="0" eaLnBrk="1" latinLnBrk="0" hangingPunct="1">
              <a:spcBef>
                <a:spcPts val="450"/>
              </a:spcBef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itchFamily="2" charset="2"/>
              <a:buChar char="l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4350" indent="-171450" algn="l" defTabSz="685800" rtl="0" eaLnBrk="1" latinLnBrk="0" hangingPunct="1">
              <a:spcBef>
                <a:spcPts val="45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itchFamily="2" charset="2"/>
              <a:buChar char="l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685800" rtl="0" eaLnBrk="1" latinLnBrk="0" hangingPunct="1">
              <a:spcBef>
                <a:spcPts val="450"/>
              </a:spcBef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itchFamily="2" charset="2"/>
              <a:buChar char="l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685800" rtl="0" eaLnBrk="1" latinLnBrk="0" hangingPunct="1">
              <a:spcBef>
                <a:spcPts val="450"/>
              </a:spcBef>
              <a:buClr>
                <a:schemeClr val="tx1">
                  <a:lumMod val="50000"/>
                  <a:lumOff val="50000"/>
                </a:schemeClr>
              </a:buClr>
              <a:buSzPct val="70000"/>
              <a:buFont typeface="Wingdings" pitchFamily="2" charset="2"/>
              <a:buChar char="l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lvl="1" indent="0">
              <a:buNone/>
            </a:pPr>
            <a:r>
              <a:rPr lang="en-US" altLang="ja-JP" sz="1600" dirty="0"/>
              <a:t>(</a:t>
            </a:r>
            <a:r>
              <a:rPr lang="en-US" altLang="ja-JP" sz="1600" dirty="0">
                <a:hlinkClick r:id="rId4"/>
              </a:rPr>
              <a:t>https://www.w3.org/2024/06/smart-cities/</a:t>
            </a:r>
            <a:r>
              <a:rPr lang="en-US" altLang="ja-JP" sz="1600" dirty="0"/>
              <a:t>)</a:t>
            </a:r>
          </a:p>
          <a:p>
            <a:pPr marL="171446" lvl="1" indent="0">
              <a:buNone/>
            </a:pPr>
            <a:endParaRPr lang="en-US" altLang="ja-JP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93DA9-8AE9-5495-69A9-ABF524C01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673" y="1846272"/>
            <a:ext cx="5128611" cy="40537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41268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6F55-73C7-8C02-97DD-946DC60B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88CAE3-88E5-02DA-0061-DB4FBD9C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1015" y="3672113"/>
            <a:ext cx="11272391" cy="2051707"/>
          </a:xfrm>
        </p:spPr>
        <p:txBody>
          <a:bodyPr>
            <a:normAutofit/>
          </a:bodyPr>
          <a:lstStyle/>
          <a:p>
            <a:r>
              <a:rPr lang="en-US" altLang="ja-JP" sz="4800" dirty="0">
                <a:solidFill>
                  <a:schemeClr val="tx1"/>
                </a:solidFill>
              </a:rPr>
              <a:t>Further Collaborations</a:t>
            </a:r>
          </a:p>
          <a:p>
            <a:r>
              <a:rPr lang="en-US" altLang="ja-JP" sz="4800" dirty="0">
                <a:solidFill>
                  <a:schemeClr val="tx1"/>
                </a:solidFill>
              </a:rPr>
              <a:t>    during the Interest Group Calls</a:t>
            </a:r>
          </a:p>
          <a:p>
            <a:endParaRPr lang="en-US" altLang="ja-JP" sz="4800" dirty="0">
              <a:solidFill>
                <a:schemeClr val="tx1"/>
              </a:solidFill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2101E8-0E44-3575-CDF1-35FE371A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AEBF816-4B95-8DCB-214F-A1E645F46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4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464E-4C8F-7AE0-3FE2-7F2B4530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B957-7537-98FA-6CE9-1F7C09B2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/>
          </a:bodyPr>
          <a:lstStyle/>
          <a:p>
            <a:r>
              <a:rPr lang="en-GB" sz="4267" dirty="0"/>
              <a:t>Invited Guests from related SDOs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5FA533-F46D-78DE-D395-4F3442232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59" y="1067066"/>
            <a:ext cx="11150877" cy="5167125"/>
          </a:xfrm>
        </p:spPr>
        <p:txBody>
          <a:bodyPr>
            <a:noAutofit/>
          </a:bodyPr>
          <a:lstStyle/>
          <a:p>
            <a:pPr marL="528619" lvl="1" indent="-342891">
              <a:buClr>
                <a:schemeClr val="tx1"/>
              </a:buClr>
            </a:pPr>
            <a:r>
              <a:rPr lang="en-US" altLang="ja-JP" sz="3200" dirty="0"/>
              <a:t>Mark Fox, ISO/IEC JTC1/WG11/AHG16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3200" dirty="0"/>
              <a:t>Terminology and Ontology</a:t>
            </a:r>
          </a:p>
          <a:p>
            <a:pPr marL="528619" lvl="1" indent="-342891">
              <a:buClr>
                <a:schemeClr val="tx1"/>
              </a:buClr>
            </a:pPr>
            <a:r>
              <a:rPr lang="en-US" altLang="ja-JP" sz="3200" dirty="0"/>
              <a:t>Torbjorn </a:t>
            </a:r>
            <a:r>
              <a:rPr lang="en-US" altLang="ja-JP" sz="3200" dirty="0" err="1"/>
              <a:t>Lahrin</a:t>
            </a:r>
            <a:r>
              <a:rPr lang="en-US" altLang="ja-JP" sz="3200" dirty="0"/>
              <a:t>, </a:t>
            </a:r>
            <a:r>
              <a:rPr lang="en-US" sz="3200" dirty="0"/>
              <a:t>JWG between ISO/IEC JTC1 and IEC/</a:t>
            </a:r>
            <a:r>
              <a:rPr lang="en-US" sz="3200" dirty="0" err="1"/>
              <a:t>SyC</a:t>
            </a:r>
            <a:r>
              <a:rPr lang="en-US" sz="3200" dirty="0"/>
              <a:t> Smart Cities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sz="3200" dirty="0"/>
              <a:t>Local Digital Twins Sweden Metaverse Including </a:t>
            </a:r>
            <a:r>
              <a:rPr lang="en-US" sz="3200" dirty="0" err="1"/>
              <a:t>Citiverse</a:t>
            </a:r>
            <a:endParaRPr lang="en-US" altLang="ja-JP" sz="3200" dirty="0"/>
          </a:p>
          <a:p>
            <a:pPr marL="528619" lvl="1" indent="-342891">
              <a:buClr>
                <a:schemeClr val="tx1"/>
              </a:buClr>
            </a:pPr>
            <a:r>
              <a:rPr lang="en-US" altLang="ja-JP" sz="3200" dirty="0"/>
              <a:t>Juanjo Hierro &amp; Martin Bauer, ETSI / FIWARE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3200" dirty="0"/>
              <a:t>NGSI-LD, Data Exchange API</a:t>
            </a:r>
          </a:p>
          <a:p>
            <a:pPr marL="528619" lvl="1" indent="-342891">
              <a:buClr>
                <a:schemeClr val="tx1"/>
              </a:buClr>
            </a:pPr>
            <a:r>
              <a:rPr lang="en-US" altLang="ja-JP" sz="3200" dirty="0"/>
              <a:t>Linda van den Brink, </a:t>
            </a:r>
            <a:r>
              <a:rPr lang="en-US" altLang="ja-JP" sz="3200" dirty="0" err="1"/>
              <a:t>Geonovum</a:t>
            </a:r>
            <a:endParaRPr lang="en-US" altLang="ja-JP" sz="3200" dirty="0"/>
          </a:p>
          <a:p>
            <a:pPr marL="985819" lvl="2" indent="-342891">
              <a:buClr>
                <a:schemeClr val="tx1"/>
              </a:buClr>
            </a:pPr>
            <a:r>
              <a:rPr lang="en-US" altLang="ja-JP" sz="3200" dirty="0"/>
              <a:t>Geospatial information, e.g., OGC </a:t>
            </a:r>
            <a:r>
              <a:rPr lang="en-US" altLang="ja-JP" sz="3200" dirty="0" err="1"/>
              <a:t>GeoPose</a:t>
            </a:r>
            <a:endParaRPr lang="en-US" altLang="ja-JP" sz="32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EA888D-49EE-591F-D1DE-BAA3B5DE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25</a:t>
            </a:fld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D34727-4299-483E-1D82-15F79C5C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01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B0D3-9FE2-D025-F57D-F69A12C0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9E3B-FA7D-CC82-5369-6650BC13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99" y="283889"/>
            <a:ext cx="11457201" cy="761119"/>
          </a:xfrm>
        </p:spPr>
        <p:txBody>
          <a:bodyPr>
            <a:normAutofit/>
          </a:bodyPr>
          <a:lstStyle/>
          <a:p>
            <a:pPr marL="185728" lvl="1" indent="0">
              <a:buClr>
                <a:schemeClr val="tx1"/>
              </a:buClr>
              <a:buNone/>
            </a:pPr>
            <a:r>
              <a:rPr lang="en-US" altLang="ja-JP" sz="3600" dirty="0"/>
              <a:t>Continue Discussion on Web-based Smart Cities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65D826-A64F-A509-089B-5F94BC24A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59" y="1006106"/>
            <a:ext cx="11150877" cy="5167125"/>
          </a:xfrm>
        </p:spPr>
        <p:txBody>
          <a:bodyPr>
            <a:noAutofit/>
          </a:bodyPr>
          <a:lstStyle/>
          <a:p>
            <a:pPr marL="528619" lvl="1" indent="-342891">
              <a:buClr>
                <a:schemeClr val="tx1"/>
              </a:buClr>
            </a:pPr>
            <a:r>
              <a:rPr lang="en-US" altLang="ja-JP" sz="4000" dirty="0"/>
              <a:t>Dedicated session NOW during the W3C TPAC</a:t>
            </a:r>
            <a:r>
              <a:rPr lang="en-US" altLang="ja-JP" sz="3600" dirty="0"/>
              <a:t>!</a:t>
            </a:r>
          </a:p>
          <a:p>
            <a:pPr marL="528619" lvl="1" indent="-342891">
              <a:buClr>
                <a:schemeClr val="tx1"/>
              </a:buClr>
            </a:pPr>
            <a:endParaRPr lang="en-US" altLang="ja-JP" sz="3600" dirty="0"/>
          </a:p>
          <a:p>
            <a:pPr marL="528619" lvl="1" indent="-342891">
              <a:buClr>
                <a:schemeClr val="tx1"/>
              </a:buClr>
            </a:pPr>
            <a:endParaRPr lang="en-US" altLang="ja-JP" sz="3600" dirty="0"/>
          </a:p>
          <a:p>
            <a:pPr marL="528619" lvl="1" indent="-342891">
              <a:buClr>
                <a:schemeClr val="tx1"/>
              </a:buClr>
            </a:pPr>
            <a:endParaRPr lang="en-US" altLang="ja-JP" sz="3600" dirty="0"/>
          </a:p>
          <a:p>
            <a:pPr marL="528619" lvl="1" indent="-342891">
              <a:buClr>
                <a:schemeClr val="tx1"/>
              </a:buClr>
            </a:pPr>
            <a:endParaRPr lang="en-US" altLang="ja-JP" sz="3600" dirty="0"/>
          </a:p>
          <a:p>
            <a:pPr marL="528619" lvl="1" indent="-342891">
              <a:buClr>
                <a:schemeClr val="tx1"/>
              </a:buClr>
            </a:pPr>
            <a:endParaRPr lang="en-US" altLang="ja-JP" sz="3600" dirty="0"/>
          </a:p>
          <a:p>
            <a:pPr marL="528619" lvl="1" indent="-342891">
              <a:buClr>
                <a:schemeClr val="tx1"/>
              </a:buClr>
            </a:pPr>
            <a:endParaRPr lang="en-US" altLang="ja-JP" sz="3600" dirty="0"/>
          </a:p>
          <a:p>
            <a:pPr marL="528619" lvl="1" indent="-342891">
              <a:buClr>
                <a:schemeClr val="tx1"/>
              </a:buClr>
            </a:pPr>
            <a:r>
              <a:rPr lang="en-US" altLang="ja-JP" sz="3600" dirty="0"/>
              <a:t>Resources</a:t>
            </a:r>
          </a:p>
          <a:p>
            <a:pPr marL="985819" lvl="2" indent="-342891">
              <a:buClr>
                <a:schemeClr val="tx1"/>
              </a:buClr>
            </a:pPr>
            <a:r>
              <a:rPr lang="en-US" altLang="ja-JP" sz="2400" dirty="0">
                <a:hlinkClick r:id="rId3"/>
              </a:rPr>
              <a:t>https://github.com/w3c/smart-cities/blob/main/technology-categories.md</a:t>
            </a:r>
            <a:endParaRPr lang="en-US" altLang="ja-JP" sz="2400" dirty="0"/>
          </a:p>
          <a:p>
            <a:pPr marL="985819" lvl="2" indent="-342891">
              <a:buClr>
                <a:schemeClr val="tx1"/>
              </a:buClr>
            </a:pPr>
            <a:r>
              <a:rPr lang="en-US" altLang="ja-JP" sz="2400" dirty="0">
                <a:hlinkClick r:id="rId4"/>
              </a:rPr>
              <a:t>https://github.com/w3c/smart-cities/blob/main/resources.md</a:t>
            </a:r>
            <a:endParaRPr lang="en-US" altLang="ja-JP" sz="2400" dirty="0"/>
          </a:p>
          <a:p>
            <a:pPr marL="985819" lvl="2" indent="-342891">
              <a:buClr>
                <a:schemeClr val="tx1"/>
              </a:buClr>
            </a:pPr>
            <a:endParaRPr lang="en-US" altLang="ja-JP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4378853-0B52-1611-834B-1A1A4756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26</a:t>
            </a:fld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C2995E-D6B1-2FB4-E4C1-EB80B8CC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AEDA761E-617C-7FBE-44C5-3BA6AFD5B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162" y="1807591"/>
            <a:ext cx="3863935" cy="28079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1E6407-1173-0EBC-6FE5-822563908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079" y="1766555"/>
            <a:ext cx="3988253" cy="283609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31276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17F9-08FB-189E-3472-A1DFECEC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A228-3939-5DC0-4E75-EED6FB14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 fontScale="90000"/>
          </a:bodyPr>
          <a:lstStyle/>
          <a:p>
            <a:r>
              <a:rPr lang="en-US" sz="4267" dirty="0"/>
              <a:t>Get input from stakeholders</a:t>
            </a:r>
            <a:br>
              <a:rPr lang="en-US" sz="4267" dirty="0"/>
            </a:br>
            <a:r>
              <a:rPr lang="en-US" sz="4267" dirty="0"/>
              <a:t>- Latest updates, proposals, etc.</a:t>
            </a:r>
            <a:endParaRPr lang="en-GB" sz="4267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8C17B4-EFC3-5FA0-8394-A58A8A470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59" y="2037806"/>
            <a:ext cx="11150877" cy="43485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28320" lvl="1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  <a:cs typeface="Calibri" panose="020F0502020204030204"/>
              </a:rPr>
              <a:t>Smart Building Co-creation Organization (SBCO)</a:t>
            </a:r>
          </a:p>
          <a:p>
            <a:pPr marL="528320" lvl="1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  <a:cs typeface="Calibri" panose="020F0502020204030204"/>
              </a:rPr>
              <a:t>IEC SC3D</a:t>
            </a:r>
          </a:p>
          <a:p>
            <a:pPr marL="528320" lvl="1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  <a:cs typeface="Calibri" panose="020F0502020204030204"/>
              </a:rPr>
              <a:t>ECHONET</a:t>
            </a:r>
          </a:p>
          <a:p>
            <a:pPr marL="528320" lvl="1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  <a:cs typeface="Calibri" panose="020F0502020204030204"/>
              </a:rPr>
              <a:t>OGC</a:t>
            </a:r>
          </a:p>
          <a:p>
            <a:pPr marL="528320" lvl="1" indent="-342265">
              <a:buClr>
                <a:schemeClr val="tx1"/>
              </a:buClr>
            </a:pPr>
            <a:r>
              <a:rPr lang="en-US" altLang="ja-JP" sz="3200" dirty="0">
                <a:ea typeface="メイリオ"/>
                <a:cs typeface="Calibri" panose="020F0502020204030204"/>
              </a:rPr>
              <a:t>ISO/IEC JTC1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E3D7F5-BAD0-CEBC-7748-C737AC3D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27</a:t>
            </a:fld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722E6B-BEE1-C4F9-BFC1-89DB2508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28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B600-F3C5-A7BC-377F-7417183D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D2C5-283C-E003-08C1-7C1C4ADF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59" y="244987"/>
            <a:ext cx="9001391" cy="761119"/>
          </a:xfrm>
        </p:spPr>
        <p:txBody>
          <a:bodyPr>
            <a:normAutofit fontScale="90000"/>
          </a:bodyPr>
          <a:lstStyle/>
          <a:p>
            <a:r>
              <a:rPr lang="en-US" sz="4267" dirty="0"/>
              <a:t>Discussion on the next steps</a:t>
            </a:r>
            <a:br>
              <a:rPr lang="en-US" sz="4267" dirty="0"/>
            </a:br>
            <a:r>
              <a:rPr lang="en-US" sz="4267" dirty="0"/>
              <a:t>- How to proceed?</a:t>
            </a:r>
            <a:endParaRPr lang="en-GB" sz="4267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4EBED2-0BAF-83B9-340A-9A7B20689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59" y="2037806"/>
            <a:ext cx="11150877" cy="43485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28320" lvl="1" indent="-342265">
              <a:buClr>
                <a:schemeClr val="tx1"/>
              </a:buClr>
            </a:pPr>
            <a:endParaRPr lang="en-US" altLang="ja-JP" sz="3200" dirty="0">
              <a:ea typeface="メイリオ"/>
              <a:cs typeface="Calibri" panose="020F0502020204030204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4E7058-15D5-FCC3-73C4-8201A225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9A62-1B62-497C-9E97-5080A51AE03B}" type="slidenum">
              <a:rPr lang="en-US" altLang="ja-JP" smtClean="0"/>
              <a:pPr>
                <a:defRPr/>
              </a:pPr>
              <a:t>28</a:t>
            </a:fld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04D013-83AF-96DB-F3CD-0D798DB0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39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8073" y="1554756"/>
            <a:ext cx="11283983" cy="1824171"/>
          </a:xfrm>
          <a:prstGeom prst="rect">
            <a:avLst/>
          </a:prstGeom>
        </p:spPr>
        <p:txBody>
          <a:bodyPr vert="horz" lIns="121920" tIns="60960" rIns="121920" bIns="60960" rtlCol="0" anchor="b" anchorCtr="0"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21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ja-JP" sz="2267" dirty="0">
              <a:solidFill>
                <a:schemeClr val="tx1"/>
              </a:solidFill>
            </a:endParaRPr>
          </a:p>
          <a:p>
            <a:r>
              <a:rPr lang="en-US" altLang="ja-JP" sz="3600" dirty="0">
                <a:solidFill>
                  <a:schemeClr val="tx1"/>
                </a:solidFill>
              </a:rPr>
              <a:t>May the Web always be with you</a:t>
            </a:r>
          </a:p>
          <a:p>
            <a:r>
              <a:rPr lang="en-US" altLang="ja-JP" sz="3600" dirty="0">
                <a:solidFill>
                  <a:schemeClr val="tx1"/>
                </a:solidFill>
              </a:rPr>
              <a:t>    and help you improve the world!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half" idx="2"/>
          </p:nvPr>
        </p:nvSpPr>
        <p:spPr>
          <a:xfrm>
            <a:off x="331961" y="306296"/>
            <a:ext cx="7732177" cy="673595"/>
          </a:xfrm>
        </p:spPr>
        <p:txBody>
          <a:bodyPr>
            <a:noAutofit/>
          </a:bodyPr>
          <a:lstStyle/>
          <a:p>
            <a:r>
              <a:rPr lang="en-US" altLang="ja-JP" sz="4267" dirty="0"/>
              <a:t>Thank you!</a:t>
            </a:r>
            <a:endParaRPr lang="ja-JP" altLang="en-US" sz="4267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F339-C289-BD4E-BE3A-0EFF8D97C3C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1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4A2AE563-F12E-A147-BA3B-9A4746F4FC72}" vid="{5EB9D27B-D0CC-644E-BED3-159A281995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Template-2021-10-DD-WoT-F2F-Session-Presenter</Template>
  <TotalTime>737</TotalTime>
  <Words>1367</Words>
  <Application>Microsoft Office PowerPoint</Application>
  <PresentationFormat>Widescreen</PresentationFormat>
  <Paragraphs>258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メイリオ</vt:lpstr>
      <vt:lpstr>Arial</vt:lpstr>
      <vt:lpstr>Calibri</vt:lpstr>
      <vt:lpstr>Times New Roman</vt:lpstr>
      <vt:lpstr>Office テーマ</vt:lpstr>
      <vt:lpstr>Web-based Digital Twins for Smart Cities at TPAC 2025</vt:lpstr>
      <vt:lpstr>Agenda for today</vt:lpstr>
      <vt:lpstr>Discussion so far</vt:lpstr>
      <vt:lpstr>Difficulties with Smart Cities</vt:lpstr>
      <vt:lpstr>Discussion around Web-based Smart Cities@W3C</vt:lpstr>
      <vt:lpstr>Collaboration with related SDOs</vt:lpstr>
      <vt:lpstr>ECHONET</vt:lpstr>
      <vt:lpstr>IEC SC3D</vt:lpstr>
      <vt:lpstr>IPA DADC =&gt; Smart Building Co-Creation Organization</vt:lpstr>
      <vt:lpstr>ISO/IEC JTC1</vt:lpstr>
      <vt:lpstr>ITU-T SG20</vt:lpstr>
      <vt:lpstr>OGC</vt:lpstr>
      <vt:lpstr>W3C’s Web Standardization related to Smart Cities</vt:lpstr>
      <vt:lpstr>Web as platform for data transfer in general - Independent from devices or OSs</vt:lpstr>
      <vt:lpstr>Web standards applied to various industries </vt:lpstr>
      <vt:lpstr>WoT: Interconnection of IoT silos  </vt:lpstr>
      <vt:lpstr>Unified vocabulary references by Thing Description</vt:lpstr>
      <vt:lpstr>PowerPoint Presentation</vt:lpstr>
      <vt:lpstr>Strong need for…</vt:lpstr>
      <vt:lpstr>“Digital Twins” as the Key Concept</vt:lpstr>
      <vt:lpstr>Web-based Digital Twins Framework</vt:lpstr>
      <vt:lpstr>Need for Standardized Vocabulary</vt:lpstr>
      <vt:lpstr>W3C as the Hub for Collaborative Discussions!</vt:lpstr>
      <vt:lpstr>PowerPoint Presentation</vt:lpstr>
      <vt:lpstr>Invited Guests from related SDOs</vt:lpstr>
      <vt:lpstr>Continue Discussion on Web-based Smart Cities</vt:lpstr>
      <vt:lpstr>Get input from stakeholders - Latest updates, proposals, etc.</vt:lpstr>
      <vt:lpstr>Discussion on the next steps - How to proceed?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Twins and Smart Cities at W3C</dc:title>
  <dc:creator>Ashimura Kazuyuki</dc:creator>
  <cp:lastModifiedBy>芦村　和幸</cp:lastModifiedBy>
  <cp:revision>93</cp:revision>
  <dcterms:created xsi:type="dcterms:W3CDTF">2022-02-01T18:42:51Z</dcterms:created>
  <dcterms:modified xsi:type="dcterms:W3CDTF">2025-11-11T05:52:09Z</dcterms:modified>
</cp:coreProperties>
</file>